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108_A3F319CC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65" r:id="rId6"/>
    <p:sldId id="257" r:id="rId7"/>
    <p:sldId id="258" r:id="rId8"/>
    <p:sldId id="260" r:id="rId9"/>
    <p:sldId id="261" r:id="rId10"/>
    <p:sldId id="262" r:id="rId11"/>
    <p:sldId id="263" r:id="rId12"/>
    <p:sldId id="267" r:id="rId13"/>
    <p:sldId id="259" r:id="rId14"/>
    <p:sldId id="268" r:id="rId15"/>
    <p:sldId id="266" r:id="rId16"/>
    <p:sldId id="264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4B6227-F3E0-8D4B-F2BC-60071923D9A2}" name="Eeli Mäkinen" initials="EM" userId="S::topiama@metropolia.fi::4bc244a6-1718-491b-a87b-bc0981101d4b" providerId="AD"/>
  <p188:author id="{9D5E9085-F73F-E481-09D8-9832F77AECA3}" name="Leo Leerilä" initials="LL" userId="S::leolee@metropolia.fi::065c1df0-840e-42f1-bae6-730c15fad8dd" providerId="AD"/>
  <p188:author id="{9AA71989-C602-6A71-4F4F-E6C42CAD1B4F}" name="Remi Maskulin" initials="RM" userId="S::remima@metropolia.fi::874662d2-1101-48a8-89c8-46fb65fc02f0" providerId="AD"/>
  <p188:author id="{E5BF5DB5-C9F6-8C8C-3F8E-E52C96F8BD87}" name="Oleg Dukalskiy" initials="OD" userId="S::olegd@metropolia.fi::e7e8e00c-63ba-4774-8e50-580de35f3c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4BB82-8025-67DC-AF90-185460151FFC}" v="188" dt="2026-10-04T11:59:13.734"/>
    <p1510:client id="{509A4895-9D16-6346-B008-B6756963DCF4}" v="338" dt="2026-10-04T12:08:02.072"/>
    <p1510:client id="{53AA1BDC-66DC-4E7E-A880-BAD016EFB4A6}" v="2318" dt="2026-10-04T12:30:55.274"/>
    <p1510:client id="{F1D791EB-6CAE-1772-BDF4-F4205CDEEEE9}" v="97" dt="2026-10-04T12:33:32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A_A10C01CB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err="1"/>
              <a:t>Impact</a:t>
            </a:r>
            <a:r>
              <a:rPr lang="fi-FI" baseline="0"/>
              <a:t> on </a:t>
            </a:r>
            <a:r>
              <a:rPr lang="fi-FI" baseline="0" err="1"/>
              <a:t>group</a:t>
            </a:r>
            <a:r>
              <a:rPr lang="fi-FI" baseline="0"/>
              <a:t> </a:t>
            </a:r>
            <a:r>
              <a:rPr lang="fi-FI" baseline="0" err="1"/>
              <a:t>member</a:t>
            </a:r>
            <a:r>
              <a:rPr lang="en-US" baseline="0"/>
              <a:t>s</a:t>
            </a:r>
            <a:endParaRPr lang="fi-FI" baseline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Insanity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Remi</c:v>
                </c:pt>
                <c:pt idx="1">
                  <c:v>Leo</c:v>
                </c:pt>
                <c:pt idx="2">
                  <c:v>Oleg</c:v>
                </c:pt>
                <c:pt idx="3">
                  <c:v>Eeli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C8-4371-A984-14DF070555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Imposter Syndrome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Remi</c:v>
                </c:pt>
                <c:pt idx="1">
                  <c:v>Leo</c:v>
                </c:pt>
                <c:pt idx="2">
                  <c:v>Oleg</c:v>
                </c:pt>
                <c:pt idx="3">
                  <c:v>Eeli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C8-4371-A984-14DF070555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Psychosis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Remi</c:v>
                </c:pt>
                <c:pt idx="1">
                  <c:v>Leo</c:v>
                </c:pt>
                <c:pt idx="2">
                  <c:v>Oleg</c:v>
                </c:pt>
                <c:pt idx="3">
                  <c:v>Eeli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C8-4371-A984-14DF0705558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Mental breakdowsdf3803r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Remi</c:v>
                </c:pt>
                <c:pt idx="1">
                  <c:v>Leo</c:v>
                </c:pt>
                <c:pt idx="2">
                  <c:v>Oleg</c:v>
                </c:pt>
                <c:pt idx="3">
                  <c:v>Eeli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</c:v>
                </c:pt>
                <c:pt idx="1">
                  <c:v>2.1</c:v>
                </c:pt>
                <c:pt idx="2">
                  <c:v>6.9</c:v>
                </c:pt>
                <c:pt idx="3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E4-474D-BCA2-7E3A675FD3F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Despresion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Remi</c:v>
                </c:pt>
                <c:pt idx="1">
                  <c:v>Leo</c:v>
                </c:pt>
                <c:pt idx="2">
                  <c:v>Oleg</c:v>
                </c:pt>
                <c:pt idx="3">
                  <c:v>Eeli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6.7</c:v>
                </c:pt>
                <c:pt idx="1">
                  <c:v>6.7</c:v>
                </c:pt>
                <c:pt idx="2">
                  <c:v>6.7</c:v>
                </c:pt>
                <c:pt idx="3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E4-474D-BCA2-7E3A675FD3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5806864"/>
        <c:axId val="626706959"/>
      </c:barChart>
      <c:catAx>
        <c:axId val="1225806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6706959"/>
        <c:crosses val="autoZero"/>
        <c:auto val="1"/>
        <c:lblAlgn val="ctr"/>
        <c:lblOffset val="100"/>
        <c:noMultiLvlLbl val="0"/>
      </c:catAx>
      <c:valAx>
        <c:axId val="626706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5806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8_A3F319C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A892BD-6557-44BE-8466-85D4CF1E3FC1}" authorId="{9D5E9085-F73F-E481-09D8-9832F77AECA3}" created="2026-10-04T11:40:40.67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50618060" sldId="264"/>
      <ac:picMk id="4" creationId="{95A31995-26AF-EDD4-049D-CDD3C361106A}"/>
    </ac:deMkLst>
    <p188:txBody>
      <a:bodyPr/>
      <a:lstStyle/>
      <a:p>
        <a:r>
          <a:rPr lang="en-US"/>
          <a:t>https://media.discordapp.net/attachments/1539213821418274856/1556268585700167731/hold-up-his-writing-is-this-fire-fire-writing.png?backend=b2&amp;ex=6ac38b90&amp;is=6ac23a10&amp;hm=00108f7b686eb6cebc25d77ced5d9643bec360b0efb26e06ab4cc7b6fdbd2748&amp;=&amp;format=webp&amp;quality=lossles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4T11:57:32.421" authorId="{EA4B6227-F3E0-8D4B-F2BC-60071923D9A2}"/>
            <p223:instance time="2026-10-04T11:57:33.601" authorId="{E5BF5DB5-C9F6-8C8C-3F8E-E52C96F8BD87}"/>
          </p223:rxn>
        </p223:reactions>
      </p:ext>
    </p188:extLst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6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0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3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7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3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56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8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6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9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90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63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4987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82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65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xQvpwM4z/sep1glowstone" TargetMode="External"/><Relationship Id="rId2" Type="http://schemas.openxmlformats.org/officeDocument/2006/relationships/hyperlink" Target="https://github.com/LeoLeerila/Glowston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jpeg"/><Relationship Id="rId12" Type="http://schemas.openxmlformats.org/officeDocument/2006/relationships/image" Target="../media/image2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.jpeg"/><Relationship Id="rId11" Type="http://schemas.openxmlformats.org/officeDocument/2006/relationships/image" Target="../media/image22.jpeg"/><Relationship Id="rId5" Type="http://schemas.openxmlformats.org/officeDocument/2006/relationships/image" Target="../media/image16.jpeg"/><Relationship Id="rId10" Type="http://schemas.openxmlformats.org/officeDocument/2006/relationships/image" Target="../media/image21.jpeg"/><Relationship Id="rId4" Type="http://schemas.openxmlformats.org/officeDocument/2006/relationships/chart" Target="../charts/chart1.xml"/><Relationship Id="rId9" Type="http://schemas.openxmlformats.org/officeDocument/2006/relationships/image" Target="../media/image20.jpeg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microsoft.com/office/2018/10/relationships/comments" Target="../comments/modernComment_108_A3F319CC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.jpe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Juttu-Pin-kuva">
            <a:extLst>
              <a:ext uri="{FF2B5EF4-FFF2-40B4-BE49-F238E27FC236}">
                <a16:creationId xmlns:a16="http://schemas.microsoft.com/office/drawing/2014/main" id="{5BC28C8B-8380-CEA2-CCF5-28E3D8497C4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7223" t="10414" r="1871" b="2"/>
          <a:stretch>
            <a:fillRect/>
          </a:stretch>
        </p:blipFill>
        <p:spPr>
          <a:xfrm>
            <a:off x="5123543" y="-1"/>
            <a:ext cx="706528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2496F3-39F9-4BA4-A520-D12E864FD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66" y="1678666"/>
            <a:ext cx="5123515" cy="2369093"/>
          </a:xfrm>
        </p:spPr>
        <p:txBody>
          <a:bodyPr>
            <a:normAutofit/>
          </a:bodyPr>
          <a:lstStyle/>
          <a:p>
            <a:r>
              <a:rPr lang="en-US" sz="4800"/>
              <a:t>GLOWSTONE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8BF4E-F326-42F3-B961-80C218DC8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5113217" cy="1096901"/>
          </a:xfrm>
        </p:spPr>
        <p:txBody>
          <a:bodyPr>
            <a:normAutofit/>
          </a:bodyPr>
          <a:lstStyle/>
          <a:p>
            <a:r>
              <a:rPr lang="fi-FI" sz="1600"/>
              <a:t>R</a:t>
            </a:r>
            <a:r>
              <a:rPr lang="en-US" sz="1600"/>
              <a:t>emi Maskulin, Leo Leerilä, Oleg Dukalskiy, Eeli Mäkinen and Evil Larry</a:t>
            </a:r>
          </a:p>
          <a:p>
            <a:r>
              <a:rPr lang="en-US" sz="1600"/>
              <a:t>Ryhmä 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EB974-251B-308F-BB29-06149167C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46" y="5269706"/>
            <a:ext cx="1243156" cy="1243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1AF564-EAAD-76DD-914F-CBDFD1EAA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8969">
            <a:off x="5303090" y="2701716"/>
            <a:ext cx="935980" cy="93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C2E9-A5BE-463A-B53B-47F5942C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3E89C-C4D0-4F05-A7FB-1C6A96764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669" y="2292285"/>
            <a:ext cx="8285573" cy="32123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 of AI</a:t>
            </a:r>
          </a:p>
          <a:p>
            <a:pPr lvl="1"/>
            <a:r>
              <a:rPr lang="en-US"/>
              <a:t>This was made fully by </a:t>
            </a:r>
            <a:r>
              <a:rPr lang="en-US" i="1"/>
              <a:t>humans, </a:t>
            </a:r>
            <a:r>
              <a:rPr lang="en-US" i="1" err="1"/>
              <a:t>ew</a:t>
            </a:r>
            <a:endParaRPr lang="en-US" i="1"/>
          </a:p>
          <a:p>
            <a:r>
              <a:rPr lang="en-US"/>
              <a:t>GitHub link - </a:t>
            </a:r>
            <a:r>
              <a:rPr lang="en-US">
                <a:hlinkClick r:id="rId2"/>
              </a:rPr>
              <a:t>https://github.com/LeoLeerila/Glowstone</a:t>
            </a:r>
          </a:p>
          <a:p>
            <a:r>
              <a:rPr lang="en-US"/>
              <a:t>Trello link - </a:t>
            </a:r>
            <a:r>
              <a:rPr lang="en-US">
                <a:hlinkClick r:id="rId3"/>
              </a:rPr>
              <a:t>https://trello.com/b/xQvpwM4z/sep1glowstone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Juttu-Pin-kuva">
            <a:extLst>
              <a:ext uri="{FF2B5EF4-FFF2-40B4-BE49-F238E27FC236}">
                <a16:creationId xmlns:a16="http://schemas.microsoft.com/office/drawing/2014/main" id="{249D8BED-933C-3D25-ACCC-C52ACA68C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21" y="4209252"/>
            <a:ext cx="1458527" cy="14366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583D4A-4C98-D65B-FB07-37FEC3F72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9394" y="4998624"/>
            <a:ext cx="3468702" cy="153985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37A8FB-902D-0B85-657D-70EB882B32C5}"/>
              </a:ext>
            </a:extLst>
          </p:cNvPr>
          <p:cNvCxnSpPr>
            <a:cxnSpLocks/>
          </p:cNvCxnSpPr>
          <p:nvPr/>
        </p:nvCxnSpPr>
        <p:spPr>
          <a:xfrm flipH="1">
            <a:off x="5303745" y="5173268"/>
            <a:ext cx="3112668" cy="72763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47927A-D686-9E49-A58A-10FCFA422BFE}"/>
              </a:ext>
            </a:extLst>
          </p:cNvPr>
          <p:cNvCxnSpPr>
            <a:cxnSpLocks/>
          </p:cNvCxnSpPr>
          <p:nvPr/>
        </p:nvCxnSpPr>
        <p:spPr>
          <a:xfrm flipH="1">
            <a:off x="5447071" y="5080819"/>
            <a:ext cx="2733339" cy="43908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8B6559-1F5C-B275-CAA8-A9995C8760FB}"/>
              </a:ext>
            </a:extLst>
          </p:cNvPr>
          <p:cNvCxnSpPr>
            <a:cxnSpLocks/>
          </p:cNvCxnSpPr>
          <p:nvPr/>
        </p:nvCxnSpPr>
        <p:spPr>
          <a:xfrm flipH="1">
            <a:off x="4670323" y="4699819"/>
            <a:ext cx="3510087" cy="59761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A09A84-A21B-6508-2484-70862C7BCA46}"/>
              </a:ext>
            </a:extLst>
          </p:cNvPr>
          <p:cNvSpPr txBox="1"/>
          <p:nvPr/>
        </p:nvSpPr>
        <p:spPr>
          <a:xfrm>
            <a:off x="8180410" y="4526937"/>
            <a:ext cx="2585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ITS AN AUTHENTIC HAND MADE NFT!!!!!!</a:t>
            </a:r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AD3BC5-B998-E57A-C948-02F0A754ED11}"/>
              </a:ext>
            </a:extLst>
          </p:cNvPr>
          <p:cNvSpPr/>
          <p:nvPr/>
        </p:nvSpPr>
        <p:spPr>
          <a:xfrm>
            <a:off x="4060520" y="5354877"/>
            <a:ext cx="1158657" cy="730684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2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1EF01-06F7-4948-BF1A-7F5AC3F3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Backlog and development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D0241-6772-482B-8922-62CA86991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1562" y="1930400"/>
            <a:ext cx="2821645" cy="31838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/>
          </a:p>
          <a:p>
            <a:r>
              <a:rPr lang="en-US"/>
              <a:t>We implemented the majority of necessary features first, before touching non-essential features.</a:t>
            </a:r>
          </a:p>
          <a:p>
            <a:r>
              <a:rPr lang="en-US"/>
              <a:t>Group members took tasks under their responsibility</a:t>
            </a:r>
          </a:p>
          <a:p>
            <a:r>
              <a:rPr lang="en-US"/>
              <a:t>All features got implemented on a timely manner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8B5240-E011-CBE1-139B-19E836C61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5859890" cy="3663821"/>
          </a:xfrm>
          <a:prstGeom prst="rect">
            <a:avLst/>
          </a:prstGeom>
        </p:spPr>
      </p:pic>
      <p:pic>
        <p:nvPicPr>
          <p:cNvPr id="4" name="Picture 3" descr="Juttu-Pin-kuva">
            <a:extLst>
              <a:ext uri="{FF2B5EF4-FFF2-40B4-BE49-F238E27FC236}">
                <a16:creationId xmlns:a16="http://schemas.microsoft.com/office/drawing/2014/main" id="{FE3A7E83-696A-57F8-1A46-E9805F0F3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144839" y="5114212"/>
            <a:ext cx="1287961" cy="12686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FC6628-AD62-21F5-B29E-B6B5ACEC66CF}"/>
              </a:ext>
            </a:extLst>
          </p:cNvPr>
          <p:cNvSpPr txBox="1"/>
          <p:nvPr/>
        </p:nvSpPr>
        <p:spPr>
          <a:xfrm>
            <a:off x="8627325" y="5056656"/>
            <a:ext cx="1553497" cy="858857"/>
          </a:xfrm>
          <a:prstGeom prst="horizontalScroll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i-FI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Boring</a:t>
            </a:r>
            <a:r>
              <a:rPr lang="fi-FI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fi-FI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ass</a:t>
            </a:r>
            <a:r>
              <a:rPr lang="fi-FI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fi-FI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trello</a:t>
            </a:r>
            <a:r>
              <a:rPr lang="fi-FI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fi-FI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bruh</a:t>
            </a:r>
            <a:endParaRPr lang="fi-FI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693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B397-8B13-45C0-97FE-7C74A246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B1592-2205-4042-8CA0-59BE20DD1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43760"/>
            <a:ext cx="8596668" cy="3667412"/>
          </a:xfrm>
        </p:spPr>
        <p:txBody>
          <a:bodyPr>
            <a:normAutofit/>
          </a:bodyPr>
          <a:lstStyle/>
          <a:p>
            <a:r>
              <a:rPr lang="en-US"/>
              <a:t>Statistics on the sprint implementation:</a:t>
            </a:r>
          </a:p>
          <a:p>
            <a:pPr lvl="1"/>
            <a:r>
              <a:rPr lang="en-US"/>
              <a:t>Sprint Master: Remi</a:t>
            </a:r>
          </a:p>
          <a:p>
            <a:pPr lvl="1"/>
            <a:r>
              <a:rPr lang="en-US"/>
              <a:t>Sprint Backlog</a:t>
            </a:r>
          </a:p>
          <a:p>
            <a:pPr lvl="2"/>
            <a:r>
              <a:rPr lang="en-US"/>
              <a:t>Chose project topic and assigned responsibility roles</a:t>
            </a:r>
          </a:p>
          <a:p>
            <a:pPr lvl="2"/>
            <a:r>
              <a:rPr lang="en-US"/>
              <a:t>Project Plan &amp; Vision documents</a:t>
            </a:r>
          </a:p>
          <a:p>
            <a:pPr lvl="2"/>
            <a:r>
              <a:rPr lang="en-US"/>
              <a:t>Product backlog and user stories</a:t>
            </a:r>
          </a:p>
          <a:p>
            <a:pPr marL="914400" lvl="2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4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B397-8B13-45C0-97FE-7C74A246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B1592-2205-4042-8CA0-59BE20DD1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972095" cy="3880773"/>
          </a:xfrm>
        </p:spPr>
        <p:txBody>
          <a:bodyPr>
            <a:normAutofit/>
          </a:bodyPr>
          <a:lstStyle/>
          <a:p>
            <a:r>
              <a:rPr lang="en-US"/>
              <a:t>Statistics on the sprint implementation:</a:t>
            </a:r>
          </a:p>
          <a:p>
            <a:pPr lvl="1"/>
            <a:r>
              <a:rPr lang="en-US"/>
              <a:t>Sprint Master: Oleg</a:t>
            </a:r>
          </a:p>
          <a:p>
            <a:pPr lvl="1"/>
            <a:r>
              <a:rPr lang="en-US"/>
              <a:t>Sprint Backlog</a:t>
            </a:r>
          </a:p>
          <a:p>
            <a:pPr lvl="2"/>
            <a:r>
              <a:rPr lang="en-US"/>
              <a:t>Done &amp; Released</a:t>
            </a:r>
          </a:p>
          <a:p>
            <a:pPr lvl="3"/>
            <a:r>
              <a:rPr lang="en-US"/>
              <a:t>Frontend basic layout and frontend-only methods</a:t>
            </a:r>
          </a:p>
          <a:p>
            <a:pPr lvl="3"/>
            <a:r>
              <a:rPr lang="en-US"/>
              <a:t>Backend implemented with SCRUM</a:t>
            </a:r>
          </a:p>
          <a:p>
            <a:pPr lvl="3"/>
            <a:r>
              <a:rPr lang="en-US" err="1"/>
              <a:t>JaCoCo</a:t>
            </a:r>
            <a:r>
              <a:rPr lang="en-US"/>
              <a:t> implemented</a:t>
            </a:r>
          </a:p>
          <a:p>
            <a:pPr lvl="3"/>
            <a:r>
              <a:rPr lang="en-US"/>
              <a:t>JUnit starter tests</a:t>
            </a:r>
          </a:p>
          <a:p>
            <a:pPr lvl="2"/>
            <a:r>
              <a:rPr lang="en-US"/>
              <a:t>Testing</a:t>
            </a:r>
          </a:p>
          <a:p>
            <a:pPr lvl="3"/>
            <a:r>
              <a:rPr lang="en-US"/>
              <a:t>Basic testing implemented for backend</a:t>
            </a:r>
          </a:p>
        </p:txBody>
      </p:sp>
    </p:spTree>
    <p:extLst>
      <p:ext uri="{BB962C8B-B14F-4D97-AF65-F5344CB8AC3E}">
        <p14:creationId xmlns:p14="http://schemas.microsoft.com/office/powerpoint/2010/main" val="116230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B397-8B13-45C0-97FE-7C74A246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B1592-2205-4042-8CA0-59BE20DD1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Statistics on the sprint implementation:</a:t>
            </a:r>
          </a:p>
          <a:p>
            <a:pPr lvl="1"/>
            <a:r>
              <a:rPr lang="en-US"/>
              <a:t>Sprint Master: Leo</a:t>
            </a:r>
          </a:p>
          <a:p>
            <a:pPr lvl="1"/>
            <a:r>
              <a:rPr lang="en-US"/>
              <a:t>Sprint Backlog</a:t>
            </a:r>
          </a:p>
          <a:p>
            <a:pPr lvl="2"/>
            <a:r>
              <a:rPr lang="en-US"/>
              <a:t>Done &amp; Released</a:t>
            </a:r>
          </a:p>
          <a:p>
            <a:pPr lvl="3"/>
            <a:r>
              <a:rPr lang="en-US"/>
              <a:t>Frontend communication with Backend</a:t>
            </a:r>
          </a:p>
          <a:p>
            <a:pPr lvl="3"/>
            <a:r>
              <a:rPr lang="en-US"/>
              <a:t>Database implemented</a:t>
            </a:r>
          </a:p>
          <a:p>
            <a:pPr lvl="3"/>
            <a:r>
              <a:rPr lang="en-US"/>
              <a:t>Jenkins implemented</a:t>
            </a:r>
          </a:p>
          <a:p>
            <a:pPr lvl="3"/>
            <a:r>
              <a:rPr lang="en-US"/>
              <a:t>Remaining frontend features implemented</a:t>
            </a:r>
          </a:p>
          <a:p>
            <a:pPr lvl="2"/>
            <a:r>
              <a:rPr lang="en-US"/>
              <a:t>Testing</a:t>
            </a:r>
          </a:p>
          <a:p>
            <a:pPr lvl="3"/>
            <a:r>
              <a:rPr lang="en-US"/>
              <a:t>Implemented new tests with Database connection in mind</a:t>
            </a:r>
          </a:p>
          <a:p>
            <a:pPr lvl="3"/>
            <a:r>
              <a:rPr lang="en-US"/>
              <a:t>Some tests we’re left TBA</a:t>
            </a:r>
          </a:p>
        </p:txBody>
      </p:sp>
    </p:spTree>
    <p:extLst>
      <p:ext uri="{BB962C8B-B14F-4D97-AF65-F5344CB8AC3E}">
        <p14:creationId xmlns:p14="http://schemas.microsoft.com/office/powerpoint/2010/main" val="1701360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B397-8B13-45C0-97FE-7C74A246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B1592-2205-4042-8CA0-59BE20DD1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Statistics on the sprint implementation:</a:t>
            </a:r>
          </a:p>
          <a:p>
            <a:pPr lvl="1"/>
            <a:r>
              <a:rPr lang="en-US"/>
              <a:t>Sprint Master: Eeli</a:t>
            </a:r>
          </a:p>
          <a:p>
            <a:pPr lvl="1"/>
            <a:r>
              <a:rPr lang="en-US"/>
              <a:t>Sprint Backlog</a:t>
            </a:r>
          </a:p>
          <a:p>
            <a:pPr lvl="2"/>
            <a:r>
              <a:rPr lang="en-US"/>
              <a:t>Done &amp; Released</a:t>
            </a:r>
          </a:p>
          <a:p>
            <a:pPr lvl="3"/>
            <a:r>
              <a:rPr lang="en-US"/>
              <a:t>Docker image implemented</a:t>
            </a:r>
          </a:p>
          <a:p>
            <a:pPr lvl="3"/>
            <a:r>
              <a:rPr lang="en-US"/>
              <a:t>Remaining JUnit tests</a:t>
            </a:r>
          </a:p>
          <a:p>
            <a:pPr lvl="2"/>
            <a:r>
              <a:rPr lang="en-US"/>
              <a:t>Postpone</a:t>
            </a:r>
          </a:p>
          <a:p>
            <a:pPr lvl="3"/>
            <a:r>
              <a:rPr lang="en-US"/>
              <a:t>Frontend UI visual enhancements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C4003-E908-2DD4-9FF5-BD711CB6A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2615661"/>
            <a:ext cx="1626678" cy="162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21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0A7BD8-35EB-4F42-BDBD-222470AC8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09" y="835015"/>
            <a:ext cx="3179593" cy="32158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800"/>
              <a:t>Architectural Design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372D4F0-A0C6-600F-91EB-F2CA8014A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27" y="55326"/>
            <a:ext cx="4958884" cy="2752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798734-CACE-EF80-1B89-DEDE48D3F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6" r="24053"/>
          <a:stretch>
            <a:fillRect/>
          </a:stretch>
        </p:blipFill>
        <p:spPr>
          <a:xfrm>
            <a:off x="1451261" y="2797696"/>
            <a:ext cx="4619162" cy="380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38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5063-4669-CCF8-9E98-C4F21DA1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Applied</a:t>
            </a:r>
            <a:r>
              <a:rPr lang="fi-FI"/>
              <a:t> Technologies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C37-D951-7D02-B00E-DD003AB1A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fi-FI"/>
              <a:t>Junit</a:t>
            </a:r>
          </a:p>
          <a:p>
            <a:r>
              <a:rPr lang="fi-FI" err="1"/>
              <a:t>Jacoco</a:t>
            </a:r>
            <a:endParaRPr lang="fi-FI"/>
          </a:p>
          <a:p>
            <a:r>
              <a:rPr lang="fi-FI" err="1"/>
              <a:t>Jenkins</a:t>
            </a:r>
            <a:endParaRPr lang="fi-FI"/>
          </a:p>
          <a:p>
            <a:r>
              <a:rPr lang="fi-FI" err="1"/>
              <a:t>Docker</a:t>
            </a:r>
          </a:p>
          <a:p>
            <a:r>
              <a:rPr lang="fi-FI" err="1"/>
              <a:t>JavaFX</a:t>
            </a:r>
            <a:endParaRPr lang="fi-FI"/>
          </a:p>
          <a:p>
            <a:r>
              <a:rPr lang="fi-FI" err="1"/>
              <a:t>MariaDB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2C3CC-DBA4-56CB-9FCB-98AE97A13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030" y="1463040"/>
            <a:ext cx="4319298" cy="4319298"/>
          </a:xfrm>
          <a:prstGeom prst="rect">
            <a:avLst/>
          </a:prstGeom>
        </p:spPr>
      </p:pic>
      <p:pic>
        <p:nvPicPr>
          <p:cNvPr id="5" name="Picture 4" descr="Juttu-Pin-kuva">
            <a:extLst>
              <a:ext uri="{FF2B5EF4-FFF2-40B4-BE49-F238E27FC236}">
                <a16:creationId xmlns:a16="http://schemas.microsoft.com/office/drawing/2014/main" id="{7AA7AA52-F322-B930-9CD7-CA45DA5A1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60" y="741680"/>
            <a:ext cx="1206781" cy="1188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279A7E-D65E-55B0-AF9A-FB8B76C56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890" y="4631486"/>
            <a:ext cx="2004292" cy="200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3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17D590-B33C-69AF-DE81-3B4550955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837" y="360007"/>
            <a:ext cx="2520524" cy="25093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2D70D9-9711-4D97-9C73-27195EAD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9A3C9-916A-4C2D-B445-AED9995A8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7224343" cy="2767012"/>
          </a:xfrm>
        </p:spPr>
        <p:txBody>
          <a:bodyPr/>
          <a:lstStyle/>
          <a:p>
            <a:r>
              <a:rPr lang="en-US"/>
              <a:t>5 minutes maximum</a:t>
            </a:r>
          </a:p>
          <a:p>
            <a:pPr lvl="1"/>
            <a:r>
              <a:rPr lang="en-US"/>
              <a:t>Prototype demo (Docker image)</a:t>
            </a:r>
          </a:p>
        </p:txBody>
      </p:sp>
      <p:pic>
        <p:nvPicPr>
          <p:cNvPr id="4" name="Picture 3" descr="Juttu-Pin-kuva">
            <a:extLst>
              <a:ext uri="{FF2B5EF4-FFF2-40B4-BE49-F238E27FC236}">
                <a16:creationId xmlns:a16="http://schemas.microsoft.com/office/drawing/2014/main" id="{C18D74AF-05C9-BE44-C00C-2DF765B2B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220" y="2225516"/>
            <a:ext cx="2303971" cy="2269490"/>
          </a:xfrm>
          <a:prstGeom prst="rect">
            <a:avLst/>
          </a:prstGeom>
        </p:spPr>
      </p:pic>
      <p:sp>
        <p:nvSpPr>
          <p:cNvPr id="5" name="Ribbon: Tilted Down 4">
            <a:extLst>
              <a:ext uri="{FF2B5EF4-FFF2-40B4-BE49-F238E27FC236}">
                <a16:creationId xmlns:a16="http://schemas.microsoft.com/office/drawing/2014/main" id="{39CC0A7B-E7C5-F5BC-E828-0E65491B7C96}"/>
              </a:ext>
            </a:extLst>
          </p:cNvPr>
          <p:cNvSpPr/>
          <p:nvPr/>
        </p:nvSpPr>
        <p:spPr>
          <a:xfrm>
            <a:off x="5122606" y="4454013"/>
            <a:ext cx="5791200" cy="703779"/>
          </a:xfrm>
          <a:prstGeom prst="ribb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Lettuce</a:t>
            </a:r>
            <a:r>
              <a:rPr lang="fi-FI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i-FI" b="1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begin</a:t>
            </a:r>
            <a:r>
              <a:rPr lang="fi-FI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i-FI" b="1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fi-FI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show</a:t>
            </a:r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EF9D13-5CC8-B26B-80DD-E087F809F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93" y="4182063"/>
            <a:ext cx="2371167" cy="237116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EECB5C1-AAE8-7717-71D9-40BAEF4A018C}"/>
              </a:ext>
            </a:extLst>
          </p:cNvPr>
          <p:cNvSpPr/>
          <p:nvPr/>
        </p:nvSpPr>
        <p:spPr>
          <a:xfrm rot="11477375">
            <a:off x="3089970" y="4709670"/>
            <a:ext cx="2399071" cy="20844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5EDB8-6460-832F-E97B-5B4D977053E2}"/>
              </a:ext>
            </a:extLst>
          </p:cNvPr>
          <p:cNvSpPr txBox="1"/>
          <p:nvPr/>
        </p:nvSpPr>
        <p:spPr>
          <a:xfrm>
            <a:off x="5457473" y="5879068"/>
            <a:ext cx="4365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/>
              <a:t>HEY ITS ME ITS VERITY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7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A38A-052A-90D5-C29C-E29578FDD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Validity</a:t>
            </a:r>
            <a:r>
              <a:rPr lang="fi-FI"/>
              <a:t> and </a:t>
            </a:r>
            <a:r>
              <a:rPr lang="fi-FI" err="1"/>
              <a:t>reliability</a:t>
            </a:r>
            <a:r>
              <a:rPr lang="fi-FI"/>
              <a:t> of </a:t>
            </a:r>
            <a:r>
              <a:rPr lang="fi-FI" err="1"/>
              <a:t>your</a:t>
            </a:r>
            <a:r>
              <a:rPr lang="fi-FI"/>
              <a:t> </a:t>
            </a:r>
            <a:r>
              <a:rPr lang="fi-FI" err="1"/>
              <a:t>Solution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10A90-D43B-018E-C902-0DA432600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How did you ensure your software is reliable?</a:t>
            </a:r>
          </a:p>
          <a:p>
            <a:r>
              <a:rPr lang="en-US"/>
              <a:t>We opened the program. It work. </a:t>
            </a:r>
            <a:r>
              <a:rPr lang="en-US">
                <a:ea typeface="+mn-lt"/>
                <a:cs typeface="+mn-lt"/>
              </a:rPr>
              <a:t>👍 (ad-hoc testing)</a:t>
            </a:r>
          </a:p>
          <a:p>
            <a:r>
              <a:rPr lang="en-US">
                <a:ea typeface="+mn-lt"/>
                <a:cs typeface="+mn-lt"/>
              </a:rPr>
              <a:t>Junit tests used to ensure methods work as expected.</a:t>
            </a:r>
          </a:p>
          <a:p>
            <a:endParaRPr lang="en-US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76B23-74C8-4826-4DBC-4B299B698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777" y="2336799"/>
            <a:ext cx="2545225" cy="2545225"/>
          </a:xfrm>
          <a:prstGeom prst="rect">
            <a:avLst/>
          </a:prstGeom>
        </p:spPr>
      </p:pic>
      <p:pic>
        <p:nvPicPr>
          <p:cNvPr id="5" name="Picture 4" descr="Juttu-Pin-kuva">
            <a:extLst>
              <a:ext uri="{FF2B5EF4-FFF2-40B4-BE49-F238E27FC236}">
                <a16:creationId xmlns:a16="http://schemas.microsoft.com/office/drawing/2014/main" id="{E6FFB671-E641-E42F-F1D7-89EDFC439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302" y="3530089"/>
            <a:ext cx="1372475" cy="1351935"/>
          </a:xfrm>
          <a:prstGeom prst="rect">
            <a:avLst/>
          </a:prstGeom>
        </p:spPr>
      </p:pic>
      <p:pic>
        <p:nvPicPr>
          <p:cNvPr id="6" name="Picture 5" descr="Juttu-Pin-kuva">
            <a:extLst>
              <a:ext uri="{FF2B5EF4-FFF2-40B4-BE49-F238E27FC236}">
                <a16:creationId xmlns:a16="http://schemas.microsoft.com/office/drawing/2014/main" id="{410E6820-9D57-657D-2115-F3E4BF3F2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3429000"/>
            <a:ext cx="3166924" cy="3119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F53269-72C2-AEBF-3FDC-36EE21F35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2953" y="5052601"/>
            <a:ext cx="1242376" cy="124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9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231F-4B89-4B3F-8242-0599760D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achievement of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035AD-6BAC-4684-8136-993DD8E14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2269"/>
            <a:ext cx="8596668" cy="10398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Learned use of Docker and Jenkins.</a:t>
            </a:r>
          </a:p>
          <a:p>
            <a:r>
              <a:rPr lang="en-US"/>
              <a:t>Learned about CI/CD principles.</a:t>
            </a:r>
          </a:p>
          <a:p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1801567-9B2B-1AB1-0465-F430097B6D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3599735"/>
              </p:ext>
            </p:extLst>
          </p:nvPr>
        </p:nvGraphicFramePr>
        <p:xfrm>
          <a:off x="677334" y="2828318"/>
          <a:ext cx="7704666" cy="4029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Picture 6" descr="Stream Absolute Cinema by Emulated Humanoid | Listen online for free on  SoundCloud">
            <a:extLst>
              <a:ext uri="{FF2B5EF4-FFF2-40B4-BE49-F238E27FC236}">
                <a16:creationId xmlns:a16="http://schemas.microsoft.com/office/drawing/2014/main" id="{CDEDC01D-F08F-B716-F415-66AEEE3D3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2945" y="4995289"/>
            <a:ext cx="1320800" cy="1320800"/>
          </a:xfrm>
          <a:prstGeom prst="rect">
            <a:avLst/>
          </a:prstGeom>
        </p:spPr>
      </p:pic>
      <p:pic>
        <p:nvPicPr>
          <p:cNvPr id="8" name="Picture 7" descr="Juttu-Pin-kuva">
            <a:extLst>
              <a:ext uri="{FF2B5EF4-FFF2-40B4-BE49-F238E27FC236}">
                <a16:creationId xmlns:a16="http://schemas.microsoft.com/office/drawing/2014/main" id="{19B33899-0D73-A5AC-1318-F8917635F2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6277" y="3192864"/>
            <a:ext cx="1401775" cy="1429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7C9EE7-E754-54A2-3E17-7DE110C26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0798" y="4249909"/>
            <a:ext cx="1374867" cy="13748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9D552F-5114-38F8-58CB-EFD66A6340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529" y="2724951"/>
            <a:ext cx="1123591" cy="1025754"/>
          </a:xfrm>
          <a:prstGeom prst="rect">
            <a:avLst/>
          </a:prstGeom>
        </p:spPr>
      </p:pic>
      <p:pic>
        <p:nvPicPr>
          <p:cNvPr id="11" name="Picture 10" descr="Juttu-Pin-kuva">
            <a:extLst>
              <a:ext uri="{FF2B5EF4-FFF2-40B4-BE49-F238E27FC236}">
                <a16:creationId xmlns:a16="http://schemas.microsoft.com/office/drawing/2014/main" id="{ADE95782-F232-280C-3AF5-49AD52B30F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6289" y="1744452"/>
            <a:ext cx="1512121" cy="1855256"/>
          </a:xfrm>
          <a:prstGeom prst="rect">
            <a:avLst/>
          </a:prstGeom>
        </p:spPr>
      </p:pic>
      <p:pic>
        <p:nvPicPr>
          <p:cNvPr id="12" name="Picture 11" descr="Juttu-Pin-kuva">
            <a:extLst>
              <a:ext uri="{FF2B5EF4-FFF2-40B4-BE49-F238E27FC236}">
                <a16:creationId xmlns:a16="http://schemas.microsoft.com/office/drawing/2014/main" id="{7CB42C1D-339B-0127-DDE6-3D87B17D0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4125" y="282518"/>
            <a:ext cx="1343972" cy="1320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4384E7-7146-EFAD-ADFD-0701206F15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8134" y="173706"/>
            <a:ext cx="1338186" cy="1336280"/>
          </a:xfrm>
          <a:prstGeom prst="rect">
            <a:avLst/>
          </a:prstGeom>
        </p:spPr>
      </p:pic>
      <p:pic>
        <p:nvPicPr>
          <p:cNvPr id="5" name="hamnana">
            <a:hlinkClick r:id="" action="ppaction://media"/>
            <a:extLst>
              <a:ext uri="{FF2B5EF4-FFF2-40B4-BE49-F238E27FC236}">
                <a16:creationId xmlns:a16="http://schemas.microsoft.com/office/drawing/2014/main" id="{6E0FDE85-E6B4-A669-85D7-6B462D72AC4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859065" y="3723362"/>
            <a:ext cx="1860116" cy="2427962"/>
          </a:xfrm>
          <a:prstGeom prst="rect">
            <a:avLst/>
          </a:prstGeom>
        </p:spPr>
      </p:pic>
      <p:pic>
        <p:nvPicPr>
          <p:cNvPr id="14" name="Picture 13" descr="Juttu-Pin-kuva">
            <a:extLst>
              <a:ext uri="{FF2B5EF4-FFF2-40B4-BE49-F238E27FC236}">
                <a16:creationId xmlns:a16="http://schemas.microsoft.com/office/drawing/2014/main" id="{4CBFC7F3-2239-307B-D29F-82163B2E5F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68" y="241009"/>
            <a:ext cx="609966" cy="6008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A39E3E-D980-DFEE-149E-74229060685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2170" y="1270000"/>
            <a:ext cx="2427963" cy="242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1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666CEEE-F8C6-593E-EDF1-010D437BC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137" y="1336501"/>
            <a:ext cx="2369508" cy="1888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19BFD4-781E-456F-BCC6-D5839C7E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for further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14327-5681-4B1F-87EE-61E03E3EF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Make improvements to UI</a:t>
            </a:r>
          </a:p>
          <a:p>
            <a:r>
              <a:rPr lang="en-US"/>
              <a:t>Make improvements to Filtering</a:t>
            </a:r>
          </a:p>
          <a:p>
            <a:r>
              <a:rPr lang="en-US"/>
              <a:t>Make notes customizable</a:t>
            </a:r>
          </a:p>
          <a:p>
            <a:r>
              <a:rPr lang="en-US"/>
              <a:t>Make improvements to Tests</a:t>
            </a:r>
          </a:p>
          <a:p>
            <a:r>
              <a:rPr lang="en-US" strike="sngStrike"/>
              <a:t>Make </a:t>
            </a:r>
            <a:r>
              <a:rPr lang="en-US">
                <a:ea typeface="+mn-lt"/>
                <a:cs typeface="+mn-lt"/>
              </a:rPr>
              <a:t>unnecessary</a:t>
            </a:r>
            <a:r>
              <a:rPr lang="en-US" strike="sngStrike"/>
              <a:t> microtransactions, add </a:t>
            </a:r>
            <a:r>
              <a:rPr lang="en-US">
                <a:ea typeface="+mn-lt"/>
                <a:cs typeface="+mn-lt"/>
              </a:rPr>
              <a:t>unnecessary</a:t>
            </a:r>
            <a:r>
              <a:rPr lang="en-US" strike="sngStrike"/>
              <a:t> ads and </a:t>
            </a:r>
            <a:r>
              <a:rPr lang="en-US">
                <a:ea typeface="+mn-lt"/>
                <a:cs typeface="+mn-lt"/>
              </a:rPr>
              <a:t>unnecessary </a:t>
            </a:r>
            <a:r>
              <a:rPr lang="en-US" strike="sngStrike"/>
              <a:t>Ai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https://media.discordapp.net/attachments/1539213821418274856/1556268585700167731/hold-up-his-writing-is-this-fire-fire-writing.png?backend=b2&amp;ex=6ac38b90&amp;is=6ac23a10&amp;hm=00108f7b686eb6cebc25d77ced5d9643bec360b0efb26e06ab4cc7b6fdbd2748&amp;=&amp;format=webp&amp;quality=lossless&#10;">
            <a:extLst>
              <a:ext uri="{FF2B5EF4-FFF2-40B4-BE49-F238E27FC236}">
                <a16:creationId xmlns:a16="http://schemas.microsoft.com/office/drawing/2014/main" id="{95A31995-26AF-EDD4-049D-CDD3C3611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477" y="3618787"/>
            <a:ext cx="442848" cy="244389"/>
          </a:xfrm>
          <a:prstGeom prst="rect">
            <a:avLst/>
          </a:prstGeom>
        </p:spPr>
      </p:pic>
      <p:pic>
        <p:nvPicPr>
          <p:cNvPr id="6" name="Picture 5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2C670EFE-CDAF-2725-748F-B66D44CB3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656" y="4113236"/>
            <a:ext cx="442848" cy="244389"/>
          </a:xfrm>
          <a:prstGeom prst="rect">
            <a:avLst/>
          </a:prstGeom>
        </p:spPr>
      </p:pic>
      <p:pic>
        <p:nvPicPr>
          <p:cNvPr id="8" name="Picture 7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BE091AB5-8BDF-B137-0748-C327379F1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366" y="4103407"/>
            <a:ext cx="442848" cy="244389"/>
          </a:xfrm>
          <a:prstGeom prst="rect">
            <a:avLst/>
          </a:prstGeom>
        </p:spPr>
      </p:pic>
      <p:pic>
        <p:nvPicPr>
          <p:cNvPr id="7" name="Picture 6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11CB6619-FA8A-2742-C26C-C63260930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43" y="5322062"/>
            <a:ext cx="442848" cy="244389"/>
          </a:xfrm>
          <a:prstGeom prst="rect">
            <a:avLst/>
          </a:prstGeom>
        </p:spPr>
      </p:pic>
      <p:pic>
        <p:nvPicPr>
          <p:cNvPr id="10" name="Picture 9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7075E289-482A-A417-5579-7C7A68912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260" y="5260102"/>
            <a:ext cx="442848" cy="244389"/>
          </a:xfrm>
          <a:prstGeom prst="rect">
            <a:avLst/>
          </a:prstGeom>
        </p:spPr>
      </p:pic>
      <p:pic>
        <p:nvPicPr>
          <p:cNvPr id="12" name="Picture 11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6137D34A-A1F4-98A4-FBDD-9EA285BEA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733" y="6088452"/>
            <a:ext cx="442848" cy="244389"/>
          </a:xfrm>
          <a:prstGeom prst="rect">
            <a:avLst/>
          </a:prstGeom>
        </p:spPr>
      </p:pic>
      <p:pic>
        <p:nvPicPr>
          <p:cNvPr id="14" name="Picture 13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B65C1FCD-38F6-7F68-3394-1D20769A2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6379931"/>
            <a:ext cx="442848" cy="244389"/>
          </a:xfrm>
          <a:prstGeom prst="rect">
            <a:avLst/>
          </a:prstGeom>
        </p:spPr>
      </p:pic>
      <p:pic>
        <p:nvPicPr>
          <p:cNvPr id="16" name="Picture 15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AD452CDB-8D1E-44C1-42CA-9E90441F2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797" y="932217"/>
            <a:ext cx="442848" cy="1798320"/>
          </a:xfrm>
          <a:prstGeom prst="rect">
            <a:avLst/>
          </a:prstGeom>
        </p:spPr>
      </p:pic>
      <p:pic>
        <p:nvPicPr>
          <p:cNvPr id="18" name="Picture 17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04C7BDBF-E3E5-A8D3-3774-9A78CB6B4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07" y="1341048"/>
            <a:ext cx="2588565" cy="555381"/>
          </a:xfrm>
          <a:prstGeom prst="rect">
            <a:avLst/>
          </a:prstGeom>
        </p:spPr>
      </p:pic>
      <p:pic>
        <p:nvPicPr>
          <p:cNvPr id="20" name="Picture 19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9381D1F4-FCE1-61D2-C788-78F0A1CE8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3445" y="6215417"/>
            <a:ext cx="740958" cy="408903"/>
          </a:xfrm>
          <a:prstGeom prst="rect">
            <a:avLst/>
          </a:prstGeom>
        </p:spPr>
      </p:pic>
      <p:pic>
        <p:nvPicPr>
          <p:cNvPr id="22" name="Picture 21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3F21D8DF-B328-F1C6-CA8D-99DD04963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43" y="5905020"/>
            <a:ext cx="1124917" cy="620794"/>
          </a:xfrm>
          <a:prstGeom prst="rect">
            <a:avLst/>
          </a:prstGeom>
        </p:spPr>
      </p:pic>
      <p:pic>
        <p:nvPicPr>
          <p:cNvPr id="24" name="Picture 23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473453FF-38D8-1A4C-656B-9604152FA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191" y="5763059"/>
            <a:ext cx="619035" cy="341619"/>
          </a:xfrm>
          <a:prstGeom prst="rect">
            <a:avLst/>
          </a:prstGeom>
        </p:spPr>
      </p:pic>
      <p:pic>
        <p:nvPicPr>
          <p:cNvPr id="9" name="Picture 8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BF832BCC-85DF-FE41-28A2-FD1216818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96" y="2290014"/>
            <a:ext cx="95853" cy="1813393"/>
          </a:xfrm>
          <a:prstGeom prst="rect">
            <a:avLst/>
          </a:prstGeom>
        </p:spPr>
      </p:pic>
      <p:pic>
        <p:nvPicPr>
          <p:cNvPr id="13" name="Picture 12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7F7CDA12-3124-3815-AFE3-323DFE941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49" y="3868628"/>
            <a:ext cx="321867" cy="177625"/>
          </a:xfrm>
          <a:prstGeom prst="rect">
            <a:avLst/>
          </a:prstGeom>
        </p:spPr>
      </p:pic>
      <p:pic>
        <p:nvPicPr>
          <p:cNvPr id="17" name="Picture 16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EBFEFF4F-9F83-D55B-6A9E-1A449CC0F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08" y="3460814"/>
            <a:ext cx="321867" cy="177625"/>
          </a:xfrm>
          <a:prstGeom prst="rect">
            <a:avLst/>
          </a:prstGeom>
        </p:spPr>
      </p:pic>
      <p:pic>
        <p:nvPicPr>
          <p:cNvPr id="21" name="Picture 20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EA375EF6-A9D6-789F-607D-D17AD01CF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11" y="3051436"/>
            <a:ext cx="321867" cy="177625"/>
          </a:xfrm>
          <a:prstGeom prst="rect">
            <a:avLst/>
          </a:prstGeom>
        </p:spPr>
      </p:pic>
      <p:pic>
        <p:nvPicPr>
          <p:cNvPr id="25" name="Picture 24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6C3ECF37-9ABA-1D07-0FE8-29F7C2DA3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08" y="2710766"/>
            <a:ext cx="321867" cy="177625"/>
          </a:xfrm>
          <a:prstGeom prst="rect">
            <a:avLst/>
          </a:prstGeom>
        </p:spPr>
      </p:pic>
      <p:pic>
        <p:nvPicPr>
          <p:cNvPr id="27" name="Picture 26" descr="A person with glasses and a hand up&#10;&#10;AI-generated content may be incorrect.">
            <a:extLst>
              <a:ext uri="{FF2B5EF4-FFF2-40B4-BE49-F238E27FC236}">
                <a16:creationId xmlns:a16="http://schemas.microsoft.com/office/drawing/2014/main" id="{116F216E-F6A8-CDBB-E467-C1A5DCA0E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24" y="2291227"/>
            <a:ext cx="321867" cy="177625"/>
          </a:xfrm>
          <a:prstGeom prst="rect">
            <a:avLst/>
          </a:prstGeom>
        </p:spPr>
      </p:pic>
      <p:pic>
        <p:nvPicPr>
          <p:cNvPr id="11" name="Picture 10" descr="Juttu-Pin-kuva">
            <a:extLst>
              <a:ext uri="{FF2B5EF4-FFF2-40B4-BE49-F238E27FC236}">
                <a16:creationId xmlns:a16="http://schemas.microsoft.com/office/drawing/2014/main" id="{B428BB55-A470-3274-F177-2BC7E185D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7998" y="6104678"/>
            <a:ext cx="7702126" cy="691380"/>
          </a:xfrm>
          <a:prstGeom prst="rect">
            <a:avLst/>
          </a:prstGeom>
        </p:spPr>
      </p:pic>
      <p:pic>
        <p:nvPicPr>
          <p:cNvPr id="5" name="Picture 4" descr="A person making a face&#10;&#10;AI-generated content may be incorrect.">
            <a:extLst>
              <a:ext uri="{FF2B5EF4-FFF2-40B4-BE49-F238E27FC236}">
                <a16:creationId xmlns:a16="http://schemas.microsoft.com/office/drawing/2014/main" id="{8E20FF7B-F875-18C8-2F5E-EBAC42269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6712" y="3736930"/>
            <a:ext cx="1576192" cy="85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180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7E82-9BEC-AF92-7B1C-CA491EBB7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uttu-Pin-kuva">
            <a:extLst>
              <a:ext uri="{FF2B5EF4-FFF2-40B4-BE49-F238E27FC236}">
                <a16:creationId xmlns:a16="http://schemas.microsoft.com/office/drawing/2014/main" id="{106B1F3F-A0C9-4CAA-424C-92C22FE49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10" y="0"/>
            <a:ext cx="6980859" cy="687638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B82CDE-4689-0A4A-002B-59252155A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954" y="260958"/>
            <a:ext cx="2927160" cy="37891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4E814-6A39-FDFA-7A33-10B3D357B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A3359-7231-1B58-440E-FBA283B69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850" y="2404534"/>
            <a:ext cx="3111500" cy="2332567"/>
          </a:xfrm>
          <a:prstGeom prst="rect">
            <a:avLst/>
          </a:prstGeom>
        </p:spPr>
      </p:pic>
      <p:pic>
        <p:nvPicPr>
          <p:cNvPr id="4" name="Picture 3" descr="A person wearing a hat&#10;&#10;AI-generated content may be incorrect.">
            <a:extLst>
              <a:ext uri="{FF2B5EF4-FFF2-40B4-BE49-F238E27FC236}">
                <a16:creationId xmlns:a16="http://schemas.microsoft.com/office/drawing/2014/main" id="{41C19C47-E165-0A29-70F6-03D8D01AB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013" y="4947780"/>
            <a:ext cx="3012987" cy="191022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5B6BED-C58B-CE23-472F-DE2803EA5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0230" y="1867552"/>
            <a:ext cx="3006117" cy="287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977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1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CE8D3E"/>
      </a:accent2>
      <a:accent3>
        <a:srgbClr val="BB7C2F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573345-c376-4e2b-abac-62b83fd3253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C93436A38D24F89C35B138A075526" ma:contentTypeVersion="9" ma:contentTypeDescription="Create a new document." ma:contentTypeScope="" ma:versionID="c6acafb0cd07f8255b63e215d1df6f14">
  <xsd:schema xmlns:xsd="http://www.w3.org/2001/XMLSchema" xmlns:xs="http://www.w3.org/2001/XMLSchema" xmlns:p="http://schemas.microsoft.com/office/2006/metadata/properties" xmlns:ns3="bd573345-c376-4e2b-abac-62b83fd32539" targetNamespace="http://schemas.microsoft.com/office/2006/metadata/properties" ma:root="true" ma:fieldsID="e07d3be5d5541a6164689a5424926e2f" ns3:_="">
    <xsd:import namespace="bd573345-c376-4e2b-abac-62b83fd3253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573345-c376-4e2b-abac-62b83fd3253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FAC21B-A48D-45FE-BF8C-4D5D0B7D80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48E9D1-16BB-4DCD-96F0-06010A57BD0B}">
  <ds:schemaRefs>
    <ds:schemaRef ds:uri="bd573345-c376-4e2b-abac-62b83fd325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92EBDA8-9ABB-45D9-8B7A-8CC816E5701D}">
  <ds:schemaRefs>
    <ds:schemaRef ds:uri="bd573345-c376-4e2b-abac-62b83fd325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d1a61d7-b6a5-4f64-8787-f074f87013ee}" enabled="0" method="" siteId="{4d1a61d7-b6a5-4f64-8787-f074f87013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GLOWSTONE</vt:lpstr>
      <vt:lpstr>PowerPoint Presentation</vt:lpstr>
      <vt:lpstr>Product Backlog and development process</vt:lpstr>
      <vt:lpstr>Sprint 1</vt:lpstr>
      <vt:lpstr>Sprint 2</vt:lpstr>
      <vt:lpstr>Sprint 3</vt:lpstr>
      <vt:lpstr>Sprint 4</vt:lpstr>
      <vt:lpstr>Architectural Design</vt:lpstr>
      <vt:lpstr>Applied Technologies</vt:lpstr>
      <vt:lpstr>Demo</vt:lpstr>
      <vt:lpstr>Validity and reliability of your Solution</vt:lpstr>
      <vt:lpstr>Learning achievement of this course</vt:lpstr>
      <vt:lpstr>Plan for further development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Amir Dirin</dc:creator>
  <cp:revision>2</cp:revision>
  <dcterms:created xsi:type="dcterms:W3CDTF">2023-10-02T07:27:44Z</dcterms:created>
  <dcterms:modified xsi:type="dcterms:W3CDTF">2026-10-04T12:37:34Z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0x010100F04C93436A38D24F89C35B138A075526</vt:lpwstr>
  </property>
</Properties>
</file>